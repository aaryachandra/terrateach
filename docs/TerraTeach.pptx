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79163fec-9e6f-829a-a544-64e3018deee5}">
          <p14:sldIdLst>
            <p14:sldId id="256"/>
            <p14:sldId id="257"/>
          </p14:sldIdLst>
        </p14:section>
        <p14:section name="Features" id="{be57dd44-2f82-c2f9-7ce1-d639eff928a9}">
          <p14:sldIdLst>
            <p14:sldId id="258"/>
            <p14:sldId id="259"/>
            <p14:sldId id="260"/>
          </p14:sldIdLst>
        </p14:section>
        <p14:section name="How it works" id="{6de62f34-fe54-cfac-32d4-34d634e65c3b}">
          <p14:sldIdLst>
            <p14:sldId id="261"/>
            <p14:sldId id="262"/>
          </p14:sldIdLst>
        </p14:section>
        <p14:section name="Next steps" id="{2af1b926-ed23-2375-0832-764c949785fe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TerraTeach is a desktop web app that turns a blank India map into an interactive classroom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47548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47548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PLAI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TerraTeach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An open-source, map-first way to teach the geography of India</a:t>
            </a:r>
            <a:endParaRPr lang="en-US" sz="1800" dirty="0"/>
          </a:p>
        </p:txBody>
      </p:sp>
      <p:pic>
        <p:nvPicPr>
          <p:cNvPr id="4" name="Logo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868680"/>
            <a:ext cx="338328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Geography sticks when it is learned on a map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TerraTeach puts India's river systems on an interactive map. Students explore, draw and label, then test themselves, while teachers see their work and talk to them live.</a:t>
            </a:r>
            <a:endParaRPr lang="en-US" sz="1600" dirty="0"/>
          </a:p>
        </p:txBody>
      </p:sp>
      <p:sp>
        <p:nvSpPr>
          <p:cNvPr id="4" name="Stat card"/>
          <p:cNvSpPr/>
          <p:nvPr/>
        </p:nvSpPr>
        <p:spPr>
          <a:xfrm>
            <a:off x="457200" y="214884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3317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38328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rivers traced on the map, from the Indus to the Kaveri</a:t>
            </a:r>
            <a:endParaRPr lang="en-US" sz="1400" dirty="0"/>
          </a:p>
        </p:txBody>
      </p:sp>
      <p:sp>
        <p:nvSpPr>
          <p:cNvPr id="7" name="Stat card"/>
          <p:cNvSpPr/>
          <p:nvPr/>
        </p:nvSpPr>
        <p:spPr>
          <a:xfrm>
            <a:off x="3291840" y="214884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66160" y="23317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338328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views: Explore, Annotate, Test Yourself and Teacher Dashboard</a:t>
            </a:r>
            <a:endParaRPr lang="en-US" sz="1400" dirty="0"/>
          </a:p>
        </p:txBody>
      </p:sp>
      <p:sp>
        <p:nvSpPr>
          <p:cNvPr id="10" name="Stat card"/>
          <p:cNvSpPr/>
          <p:nvPr/>
        </p:nvSpPr>
        <p:spPr>
          <a:xfrm>
            <a:off x="6126480" y="214884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0" y="23317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338328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small Node/Express server, with no build step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Explore Rivers: one river at a time</a:t>
            </a:r>
            <a:endParaRPr lang="en-US" sz="2800" dirty="0"/>
          </a:p>
        </p:txBody>
      </p:sp>
      <p:pic>
        <p:nvPicPr>
          <p:cNvPr id="3" name="Screenshot" descr="riv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4937760" cy="277749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Step 1"/>
          <p:cNvSpPr/>
          <p:nvPr/>
        </p:nvSpPr>
        <p:spPr>
          <a:xfrm>
            <a:off x="5715000" y="12801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7150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2344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Show or hide each river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 hand-traced SVG paths, toggled on their own or all at once</a:t>
            </a:r>
            <a:endParaRPr lang="en-US" sz="1600" dirty="0"/>
          </a:p>
        </p:txBody>
      </p:sp>
      <p:sp>
        <p:nvSpPr>
          <p:cNvPr id="7" name="Step 2"/>
          <p:cNvSpPr/>
          <p:nvPr/>
        </p:nvSpPr>
        <p:spPr>
          <a:xfrm>
            <a:off x="5715000" y="22402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71500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63640" y="219456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Animated drawing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Each river draws itself in, so students see where it flows</a:t>
            </a:r>
            <a:endParaRPr lang="en-US" sz="1600" dirty="0"/>
          </a:p>
        </p:txBody>
      </p:sp>
      <p:sp>
        <p:nvSpPr>
          <p:cNvPr id="10" name="Step 3"/>
          <p:cNvSpPr/>
          <p:nvPr/>
        </p:nvSpPr>
        <p:spPr>
          <a:xfrm>
            <a:off x="5715000" y="32004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71500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63640" y="315468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States overlay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Switch the state boundaries on to link rivers to regions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Annotate: draw and label a blank map</a:t>
            </a:r>
            <a:endParaRPr lang="en-US" sz="2800" dirty="0"/>
          </a:p>
        </p:txBody>
      </p:sp>
      <p:sp>
        <p:nvSpPr>
          <p:cNvPr id="3" name="Step 1"/>
          <p:cNvSpPr/>
          <p:nvPr/>
        </p:nvSpPr>
        <p:spPr>
          <a:xfrm>
            <a:off x="457200" y="12801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2344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Freehand drawing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Four map colours (water, land, vegetation, ink) and a stroke-width slider</a:t>
            </a:r>
            <a:endParaRPr lang="en-US" sz="1600" dirty="0"/>
          </a:p>
        </p:txBody>
      </p:sp>
      <p:sp>
        <p:nvSpPr>
          <p:cNvPr id="6" name="Step 2"/>
          <p:cNvSpPr/>
          <p:nvPr/>
        </p:nvSpPr>
        <p:spPr>
          <a:xfrm>
            <a:off x="457200" y="22402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1945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 labels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Type a place name and drop it where you last drew</a:t>
            </a:r>
            <a:endParaRPr lang="en-US" sz="1600" dirty="0"/>
          </a:p>
        </p:txBody>
      </p:sp>
      <p:sp>
        <p:nvSpPr>
          <p:cNvPr id="9" name="Step 3"/>
          <p:cNvSpPr/>
          <p:nvPr/>
        </p:nvSpPr>
        <p:spPr>
          <a:xfrm>
            <a:off x="457200" y="32004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315468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Submit to teacher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canvas is sent to the server as a PNG for review</a:t>
            </a:r>
            <a:endParaRPr lang="en-US" sz="1600" dirty="0"/>
          </a:p>
        </p:txBody>
      </p:sp>
      <p:pic>
        <p:nvPicPr>
          <p:cNvPr id="12" name="Screenshot" descr="stude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1234440"/>
            <a:ext cx="4937760" cy="277749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Test Yourself: practise, then check</a:t>
            </a:r>
            <a:endParaRPr lang="en-US" sz="2800" dirty="0"/>
          </a:p>
        </p:txBody>
      </p:sp>
      <p:pic>
        <p:nvPicPr>
          <p:cNvPr id="3" name="Screenshot" descr="selft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4937760" cy="277749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Step 1"/>
          <p:cNvSpPr/>
          <p:nvPr/>
        </p:nvSpPr>
        <p:spPr>
          <a:xfrm>
            <a:off x="5715000" y="12801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7150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2344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Guided traces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Faint outlines of the Narmada, Tapi and Godavari to follow</a:t>
            </a:r>
            <a:endParaRPr lang="en-US" sz="1600" dirty="0"/>
          </a:p>
        </p:txBody>
      </p:sp>
      <p:sp>
        <p:nvSpPr>
          <p:cNvPr id="7" name="Step 2"/>
          <p:cNvSpPr/>
          <p:nvPr/>
        </p:nvSpPr>
        <p:spPr>
          <a:xfrm>
            <a:off x="5715000" y="22402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71500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63640" y="219456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Reveal the states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Show the states map to check where a river runs</a:t>
            </a:r>
            <a:endParaRPr lang="en-US" sz="1600" dirty="0"/>
          </a:p>
        </p:txBody>
      </p:sp>
      <p:sp>
        <p:nvSpPr>
          <p:cNvPr id="10" name="Step 3"/>
          <p:cNvSpPr/>
          <p:nvPr/>
        </p:nvSpPr>
        <p:spPr>
          <a:xfrm>
            <a:off x="5715000" y="32004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71500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63640" y="315468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Keep your work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Save the finished map as a PNG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 live loop between student and teacher</a:t>
            </a:r>
            <a:endParaRPr lang="en-US" sz="2800" dirty="0"/>
          </a:p>
        </p:txBody>
      </p:sp>
      <p:sp>
        <p:nvSpPr>
          <p:cNvPr id="3" name="Student"/>
          <p:cNvSpPr/>
          <p:nvPr/>
        </p:nvSpPr>
        <p:spPr>
          <a:xfrm>
            <a:off x="457200" y="1371600"/>
            <a:ext cx="251460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0876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Student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Draws and labels the map, then presses Submit</a:t>
            </a:r>
            <a:endParaRPr lang="en-US" sz="1800" dirty="0"/>
          </a:p>
        </p:txBody>
      </p:sp>
      <p:sp>
        <p:nvSpPr>
          <p:cNvPr id="5" name="Arrow"/>
          <p:cNvSpPr/>
          <p:nvPr/>
        </p:nvSpPr>
        <p:spPr>
          <a:xfrm>
            <a:off x="3017520" y="2029968"/>
            <a:ext cx="27432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6" name="Express server"/>
          <p:cNvSpPr/>
          <p:nvPr/>
        </p:nvSpPr>
        <p:spPr>
          <a:xfrm>
            <a:off x="3337560" y="1371600"/>
            <a:ext cx="2514600" cy="1600200"/>
          </a:xfrm>
          <a:prstGeom prst="roundRect">
            <a:avLst>
              <a:gd name="adj" fmla="val 6857"/>
            </a:avLst>
          </a:prstGeom>
          <a:solidFill>
            <a:schemeClr val="tx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20440" y="150876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accent5"/>
                </a:solidFill>
              </a:rPr>
              <a:t>Express server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POST /save-base64 stores the map as canvasData.png</a:t>
            </a:r>
            <a:endParaRPr lang="en-US" sz="1800" dirty="0"/>
          </a:p>
        </p:txBody>
      </p:sp>
      <p:sp>
        <p:nvSpPr>
          <p:cNvPr id="8" name="Arrow"/>
          <p:cNvSpPr/>
          <p:nvPr/>
        </p:nvSpPr>
        <p:spPr>
          <a:xfrm>
            <a:off x="5897880" y="2029968"/>
            <a:ext cx="27432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9" name="Teacher"/>
          <p:cNvSpPr/>
          <p:nvPr/>
        </p:nvSpPr>
        <p:spPr>
          <a:xfrm>
            <a:off x="6217920" y="1371600"/>
            <a:ext cx="251460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150876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Teacher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Views it at /canvas-image and sends feedback from /teacher-dash</a:t>
            </a:r>
            <a:endParaRPr lang="en-US" sz="1800" dirty="0"/>
          </a:p>
        </p:txBody>
      </p:sp>
      <p:sp>
        <p:nvSpPr>
          <p:cNvPr id="11" name="Feedback card"/>
          <p:cNvSpPr/>
          <p:nvPr/>
        </p:nvSpPr>
        <p:spPr>
          <a:xfrm>
            <a:off x="457200" y="3291840"/>
            <a:ext cx="8229600" cy="1188720"/>
          </a:xfrm>
          <a:prstGeom prst="roundRect">
            <a:avLst>
              <a:gd name="adj" fmla="val 9231"/>
            </a:avLst>
          </a:prstGeom>
          <a:solidFill>
            <a:srgbClr val="E8F3F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342900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Feedback goes back the other way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teacher's messages go to /send-message. The student page checks /get-messages every 2 seconds and shows each new message as it arrives.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 simple stack that runs in three commands</a:t>
            </a:r>
            <a:endParaRPr lang="en-US" sz="2800" dirty="0"/>
          </a:p>
        </p:txBody>
      </p:sp>
      <p:sp>
        <p:nvSpPr>
          <p:cNvPr id="3" name="Frontend dot"/>
          <p:cNvSpPr/>
          <p:nvPr/>
        </p:nvSpPr>
        <p:spPr>
          <a:xfrm>
            <a:off x="457200" y="132588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05840" y="12801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Frontend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HTML, Bootstrap 5, Canvas 2D and inline SVG</a:t>
            </a:r>
            <a:endParaRPr lang="en-US" sz="1600" dirty="0"/>
          </a:p>
        </p:txBody>
      </p:sp>
      <p:sp>
        <p:nvSpPr>
          <p:cNvPr id="5" name="Backend dot"/>
          <p:cNvSpPr/>
          <p:nvPr/>
        </p:nvSpPr>
        <p:spPr>
          <a:xfrm>
            <a:off x="457200" y="2286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2402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Backend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Node.js with Express, CORS and body-parser</a:t>
            </a:r>
            <a:endParaRPr lang="en-US" sz="1600" dirty="0"/>
          </a:p>
        </p:txBody>
      </p:sp>
      <p:sp>
        <p:nvSpPr>
          <p:cNvPr id="7" name="Data dot"/>
          <p:cNvSpPr/>
          <p:nvPr/>
        </p:nvSpPr>
        <p:spPr>
          <a:xfrm>
            <a:off x="457200" y="324612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32004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Data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Files on disk and in-memory messages (MongoDB stubbed in)</a:t>
            </a:r>
            <a:endParaRPr lang="en-US" sz="1600" dirty="0"/>
          </a:p>
        </p:txBody>
      </p:sp>
      <p:sp>
        <p:nvSpPr>
          <p:cNvPr id="9" name="Terminal"/>
          <p:cNvSpPr/>
          <p:nvPr/>
        </p:nvSpPr>
        <p:spPr>
          <a:xfrm>
            <a:off x="4663440" y="1280160"/>
            <a:ext cx="4023360" cy="2651760"/>
          </a:xfrm>
          <a:prstGeom prst="roundRect">
            <a:avLst>
              <a:gd name="adj" fmla="val 4138"/>
            </a:avLst>
          </a:prstGeom>
          <a:solidFill>
            <a:schemeClr val="tx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37760" y="146304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cd annotate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install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node app.js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:3001/Terrateach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40690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7F76"/>
                </a:solidFill>
              </a:rPr>
              <a:t>Desktop browsers only, because the map uses fixed pixel positions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comes next</a:t>
            </a:r>
            <a:endParaRPr lang="en-US" sz="3600" dirty="0"/>
          </a:p>
        </p:txBody>
      </p:sp>
      <p:sp>
        <p:nvSpPr>
          <p:cNvPr id="3" name="Classrooms"/>
          <p:cNvSpPr/>
          <p:nvPr/>
        </p:nvSpPr>
        <p:spPr>
          <a:xfrm>
            <a:off x="548640" y="1417320"/>
            <a:ext cx="3840480" cy="146304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581912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accent5"/>
                </a:solidFill>
              </a:rPr>
              <a:t>Classrooms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Make “Join a room” real, with a separate space for each class</a:t>
            </a:r>
            <a:endParaRPr lang="en-US" sz="1800" dirty="0"/>
          </a:p>
        </p:txBody>
      </p:sp>
      <p:sp>
        <p:nvSpPr>
          <p:cNvPr id="5" name="Persistence"/>
          <p:cNvSpPr/>
          <p:nvPr/>
        </p:nvSpPr>
        <p:spPr>
          <a:xfrm>
            <a:off x="4663440" y="1417320"/>
            <a:ext cx="3840480" cy="146304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92040" y="1581912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accent5"/>
                </a:solidFill>
              </a:rPr>
              <a:t>Persistence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Turn on MongoDB and give each student their own submission file, instead of overwriting canvasData.png</a:t>
            </a:r>
            <a:endParaRPr lang="en-US" sz="1800" dirty="0"/>
          </a:p>
        </p:txBody>
      </p:sp>
      <p:sp>
        <p:nvSpPr>
          <p:cNvPr id="7" name="More maps"/>
          <p:cNvSpPr/>
          <p:nvPr/>
        </p:nvSpPr>
        <p:spPr>
          <a:xfrm>
            <a:off x="548640" y="3108960"/>
            <a:ext cx="3840480" cy="146304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3273552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accent5"/>
                </a:solidFill>
              </a:rPr>
              <a:t>More maps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Mountains, soils and states, plus the remaining rivers in Test Yourself</a:t>
            </a:r>
            <a:endParaRPr lang="en-US" sz="1800" dirty="0"/>
          </a:p>
        </p:txBody>
      </p:sp>
      <p:sp>
        <p:nvSpPr>
          <p:cNvPr id="9" name="Wider reach"/>
          <p:cNvSpPr/>
          <p:nvPr/>
        </p:nvSpPr>
        <p:spPr>
          <a:xfrm>
            <a:off x="4663440" y="3108960"/>
            <a:ext cx="3840480" cy="146304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92040" y="3273552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accent5"/>
                </a:solidFill>
              </a:rPr>
              <a:t>Wider reach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Responsive canvas for tablets, and fixed asset paths on the /Terrateach/student route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rraTeach">
  <a:themeElements>
    <a:clrScheme name="TerraTeach">
      <a:dk1>
        <a:srgbClr val="1B1714"/>
      </a:dk1>
      <a:lt1>
        <a:srgbClr val="FFFFFF"/>
      </a:lt1>
      <a:dk2>
        <a:srgbClr val="2A221C"/>
      </a:dk2>
      <a:lt2>
        <a:srgbClr val="F3EEE8"/>
      </a:lt2>
      <a:accent1>
        <a:srgbClr val="C8784A"/>
      </a:accent1>
      <a:accent2>
        <a:srgbClr val="2290CB"/>
      </a:accent2>
      <a:accent3>
        <a:srgbClr val="6B8E5A"/>
      </a:accent3>
      <a:accent4>
        <a:srgbClr val="8A5A3C"/>
      </a:accent4>
      <a:accent5>
        <a:srgbClr val="E9B98F"/>
      </a:accent5>
      <a:accent6>
        <a:srgbClr val="5C6B73"/>
      </a:accent6>
      <a:hlink>
        <a:srgbClr val="2290CB"/>
      </a:hlink>
      <a:folHlink>
        <a:srgbClr val="8A5A3C"/>
      </a:folHlink>
    </a:clrScheme>
    <a:fontScheme name="TerraTeac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TerraTeach</dc:title>
  <dc:subject>PptxGenJS Presentation</dc:subject>
  <dc:creator>TerraTeach</dc:creator>
  <cp:lastModifiedBy>TerraTeach</cp:lastModifiedBy>
  <cp:revision>1</cp:revision>
  <dcterms:created xsi:type="dcterms:W3CDTF">2026-10-15T19:50:22Z</dcterms:created>
  <dcterms:modified xsi:type="dcterms:W3CDTF">2026-10-15T19:50:22Z</dcterms:modified>
</cp:coreProperties>
</file>